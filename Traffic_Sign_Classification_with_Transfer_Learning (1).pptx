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7D10AA-F38A-41EF-9031-A96FDF741F0D}" v="2" dt="2026-04-21T23:00:49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58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vesh walunj" userId="eeabe0b892eb3c87" providerId="LiveId" clId="{0053CE35-B9BA-4DE2-8688-39201F3D5DF6}"/>
    <pc:docChg chg="modSld">
      <pc:chgData name="vishvesh walunj" userId="eeabe0b892eb3c87" providerId="LiveId" clId="{0053CE35-B9BA-4DE2-8688-39201F3D5DF6}" dt="2026-04-21T23:01:31.055" v="9" actId="1076"/>
      <pc:docMkLst>
        <pc:docMk/>
      </pc:docMkLst>
      <pc:sldChg chg="addSp modSp mod">
        <pc:chgData name="vishvesh walunj" userId="eeabe0b892eb3c87" providerId="LiveId" clId="{0053CE35-B9BA-4DE2-8688-39201F3D5DF6}" dt="2026-04-21T23:01:31.055" v="9" actId="1076"/>
        <pc:sldMkLst>
          <pc:docMk/>
          <pc:sldMk cId="0" sldId="264"/>
        </pc:sldMkLst>
        <pc:spChg chg="add mod">
          <ac:chgData name="vishvesh walunj" userId="eeabe0b892eb3c87" providerId="LiveId" clId="{0053CE35-B9BA-4DE2-8688-39201F3D5DF6}" dt="2026-04-21T23:01:31.055" v="9" actId="1076"/>
          <ac:spMkLst>
            <pc:docMk/>
            <pc:sldMk cId="0" sldId="264"/>
            <ac:spMk id="29" creationId="{C4CB30BD-82E6-ACE0-F9D4-BA54A1798C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13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230595"/>
            <a:ext cx="71437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Traffic Sign Classification with Transfer Learning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000125" y="2426140"/>
            <a:ext cx="7143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Studying the Impact of Data Augmentation and Synthetic Datasets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00125" y="3340540"/>
            <a:ext cx="71437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Prepared by </a:t>
            </a:r>
            <a:r>
              <a:rPr lang="en-US" sz="11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Vishvesh Walunj</a:t>
            </a:r>
            <a:r>
              <a:rPr lang="en-US" sz="11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 &amp; </a:t>
            </a:r>
            <a:r>
              <a:rPr lang="en-US" sz="11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Mohneet Sandhu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809280" y="3817386"/>
            <a:ext cx="3525441" cy="4446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809280" y="3817386"/>
            <a:ext cx="3525441" cy="21431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311" y="3954010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917" y="3935257"/>
            <a:ext cx="274677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95.83% Test Accuracy Achieved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Strategic Focus on 6-Class GTSRB Subset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57830"/>
            <a:ext cx="800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Balancing Manageability with Robust Performance Evaluation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973991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71500" y="1902554"/>
            <a:ext cx="3786188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Primary Objective: Quantify impact of data strategies on recognition accuracy and robustness.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2574066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1500" y="2502629"/>
            <a:ext cx="3786188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Dataset Choice: Focused study on a 6-class subset of the GTSRB dataset.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1500" y="3174141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71500" y="3102704"/>
            <a:ext cx="3786188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Class Selection: Priority road, Yield, Stop, No entry, Road work, and Keep right.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3774216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71500" y="3702779"/>
            <a:ext cx="3786188" cy="457200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Statistical Significance: Clear comparative analysis across 12,930 total samples.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86313" y="1902554"/>
            <a:ext cx="3786188" cy="2400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786313" y="1902554"/>
            <a:ext cx="3786188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29188" y="2045429"/>
            <a:ext cx="152538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Metric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54573" y="2045429"/>
            <a:ext cx="197505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Detail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29188" y="2424047"/>
            <a:ext cx="1525386" cy="3821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Target Classes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54573" y="2424047"/>
            <a:ext cx="1975052" cy="3821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D6B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 Distinct GTSRB Classes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29188" y="2806238"/>
            <a:ext cx="152538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Training Samples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54573" y="2806238"/>
            <a:ext cx="197505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7,776 images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929188" y="3184857"/>
            <a:ext cx="152538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Validation Samples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54573" y="3184857"/>
            <a:ext cx="197505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1,944 images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929188" y="3563476"/>
            <a:ext cx="152538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Test Samples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54573" y="3563476"/>
            <a:ext cx="197505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3,210 images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45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8189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Rigorous Experimental Design Using ResNet50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088668"/>
            <a:ext cx="80010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Ensuring Fair Comparison Across Four Data Configurations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71500" y="1572657"/>
            <a:ext cx="800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Framework utilizes an </a:t>
            </a: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ImageNet-pretrained ResNet50</a:t>
            </a: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 with a custom classification head. Backbone weights frozen to isolate the impact of data strategies.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137014"/>
            <a:ext cx="3929063" cy="1457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71500" y="2137014"/>
            <a:ext cx="3929063" cy="2857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57250" y="2279889"/>
            <a:ext cx="115193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Config 1: Baseline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4375" y="2542422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Training on original data only. Fundamental benchmark for all experiments.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43438" y="2137014"/>
            <a:ext cx="3929063" cy="1457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43438" y="2137014"/>
            <a:ext cx="3929063" cy="2857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929188" y="2279889"/>
            <a:ext cx="136267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Config 2: Augmented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86313" y="2542422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Original data + training-time augmentations (rotation, jittering) for real-time diversity.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1500" y="3708639"/>
            <a:ext cx="3929063" cy="1457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71500" y="3708639"/>
            <a:ext cx="3929063" cy="28575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57250" y="3851514"/>
            <a:ext cx="14001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Config 3: Synthesized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14375" y="4114047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Original data + pre-generated synthetic images with complex perturbations (blur, noise).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43438" y="3708639"/>
            <a:ext cx="3929063" cy="1457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643438" y="3708639"/>
            <a:ext cx="3929063" cy="2857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29188" y="3851514"/>
            <a:ext cx="139481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Config 4: Synth + Aug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86313" y="4114047"/>
            <a:ext cx="3643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Hybrid approach: pre-generated synthetic samples + real-time augmentations.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8189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Synthesized Data Strategy Yields Superior Accuracy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088668"/>
            <a:ext cx="80010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Outperforming Standard Augmentation by Significant Margins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71500" y="1608376"/>
            <a:ext cx="4629150" cy="2428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51251"/>
            <a:ext cx="4343400" cy="228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1608376"/>
            <a:ext cx="3086100" cy="2428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5486400" y="1608376"/>
            <a:ext cx="3086100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629275" y="1751251"/>
            <a:ext cx="1213684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Configuration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842959" y="1751251"/>
            <a:ext cx="880467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Accuracy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23426" y="1751251"/>
            <a:ext cx="706199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Gain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629275" y="2069148"/>
            <a:ext cx="1213684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Baseline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842959" y="2069148"/>
            <a:ext cx="880467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93.30%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723426" y="2069148"/>
            <a:ext cx="706199" cy="321469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-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629275" y="2390617"/>
            <a:ext cx="1213684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Augmented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842959" y="2390617"/>
            <a:ext cx="880467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94.14%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723426" y="2390617"/>
            <a:ext cx="706199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+0.84%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629275" y="2708514"/>
            <a:ext cx="2800350" cy="317897"/>
          </a:xfrm>
          <a:prstGeom prst="rect">
            <a:avLst/>
          </a:prstGeom>
          <a:solidFill>
            <a:srgbClr val="DD6B20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5715000" y="2797811"/>
            <a:ext cx="7179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556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Synthesized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842959" y="2708514"/>
            <a:ext cx="880467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DD6B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95.83%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723426" y="2708514"/>
            <a:ext cx="706199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DD6B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+2.53%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629275" y="3026411"/>
            <a:ext cx="1213684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Synth + Aug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842959" y="3026411"/>
            <a:ext cx="880467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95.64%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7723426" y="3026411"/>
            <a:ext cx="706199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+2.34%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00088" y="4398011"/>
            <a:ext cx="212705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results demonstrate that the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2827139" y="4398011"/>
            <a:ext cx="15573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Synthesized Data model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384477" y="4398011"/>
            <a:ext cx="376832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is the superior performer, achieving a peak test accuracy of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71500" y="4590892"/>
            <a:ext cx="78759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95.83%. This represents a substantial +2.53 percentage point gain over the baseline, suggesting that pre-generated synthetic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71500" y="4783773"/>
            <a:ext cx="51667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examples provide more effective diversity than standard real-time augmentation.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Stable Optimization and Strong Generalization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171966"/>
            <a:ext cx="800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Validation Performance Reaches 98.41% with Synthesized Data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780970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71500" y="1709533"/>
            <a:ext cx="3506912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Optimization Stability: Steady decrease in training and validation loss across epochs.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335281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1500" y="2263843"/>
            <a:ext cx="3506912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Strong Generalization: Validation accuracy peaked at </a:t>
            </a:r>
            <a:r>
              <a:rPr lang="en-US" sz="900" dirty="0">
                <a:solidFill>
                  <a:srgbClr val="DD6B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98.41%</a:t>
            </a: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" y="2889591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71500" y="2818154"/>
            <a:ext cx="3506912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Convergence Efficiency: Optimal performance reached reliably within epoch budget.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1500" y="3443901"/>
            <a:ext cx="57150" cy="57150"/>
          </a:xfrm>
          <a:prstGeom prst="ellipse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71500" y="3372464"/>
            <a:ext cx="3506912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Reliability: No signs of divergence or overfitting during the training phase.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64162" y="1709533"/>
            <a:ext cx="4208338" cy="3028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364162" y="1709533"/>
            <a:ext cx="4208338" cy="2857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037" y="1852408"/>
            <a:ext cx="3921919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8189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Visualizing Environmental Corruptions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088668"/>
            <a:ext cx="80010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Training Models to Recognize Signs Under Adverse Conditions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71500" y="1608376"/>
            <a:ext cx="3857625" cy="3143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1679814"/>
            <a:ext cx="3000375" cy="30003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14875" y="2013533"/>
            <a:ext cx="57150" cy="5715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4714875" y="1942095"/>
            <a:ext cx="38576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Gaussian Noise</a:t>
            </a: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Simulates sensor interference and low-quality imaging sensors.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714875" y="2532125"/>
            <a:ext cx="57150" cy="5715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714875" y="2460687"/>
            <a:ext cx="38576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Motion Blur</a:t>
            </a: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Represents camera movement or high-speed vehicle travel.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714875" y="3050716"/>
            <a:ext cx="57150" cy="5715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714875" y="2979279"/>
            <a:ext cx="38576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Partial Occlusion</a:t>
            </a: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Mimics blockage by foliage, debris, or other vehicles.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14875" y="3569308"/>
            <a:ext cx="57150" cy="5715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714875" y="3497870"/>
            <a:ext cx="38576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Low Light</a:t>
            </a: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Simulates evening, dawn, or tunnel driving conditions.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714875" y="4052181"/>
            <a:ext cx="38576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Synthetic perturbations effectively train the model to recognize structural symbols despite these visual degradations.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Synthetic Data Significantly Enhances Robustness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171966"/>
            <a:ext cx="800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Outperforming Baseline Across All Environmental Corruptions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888127"/>
            <a:ext cx="57150" cy="5715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71500" y="1816689"/>
            <a:ext cx="3786188" cy="6171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Stress Testing: Models evaluated under adverse conditions to simulate real-world autonomous driving challenges.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683873"/>
            <a:ext cx="57150" cy="5715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71500" y="2612436"/>
            <a:ext cx="3786188" cy="6171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Superior Performance: Synthesized-data model consistently outperformed baseline across every corruption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" y="3479620"/>
            <a:ext cx="57150" cy="5715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71500" y="3408183"/>
            <a:ext cx="3786188" cy="6171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Key Findings: Most significant gains observed under </a:t>
            </a:r>
            <a:r>
              <a:rPr lang="en-US" sz="900" dirty="0">
                <a:solidFill>
                  <a:srgbClr val="DD6B2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blur and noise</a:t>
            </a:r>
            <a:r>
              <a:rPr lang="en-US" sz="9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, validating the impact of synthetic perturbations.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86313" y="1816689"/>
            <a:ext cx="3786188" cy="238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786313" y="1816689"/>
            <a:ext cx="3786188" cy="2857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929188" y="1959564"/>
            <a:ext cx="1346011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Corruption Type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75198" y="1959564"/>
            <a:ext cx="2154427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Accuracy Gain (vs. Baseline)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929188" y="2338183"/>
            <a:ext cx="3500438" cy="382191"/>
          </a:xfrm>
          <a:prstGeom prst="rect">
            <a:avLst/>
          </a:prstGeom>
          <a:solidFill>
            <a:srgbClr val="DD6B20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036344" y="2452483"/>
            <a:ext cx="27682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Blur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75198" y="2338183"/>
            <a:ext cx="2154427" cy="38219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+19.10 pts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929188" y="2720373"/>
            <a:ext cx="3500438" cy="378619"/>
          </a:xfrm>
          <a:prstGeom prst="rect">
            <a:avLst/>
          </a:prstGeom>
          <a:solidFill>
            <a:srgbClr val="DD6B20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036344" y="2831102"/>
            <a:ext cx="10072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Gaussian Noise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75198" y="2720373"/>
            <a:ext cx="2154427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+18.85 pts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29188" y="3098992"/>
            <a:ext cx="1346011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Occlusion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75198" y="3098992"/>
            <a:ext cx="2154427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+7.85 pts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29188" y="3477611"/>
            <a:ext cx="1346011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Low Light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75198" y="3477611"/>
            <a:ext cx="2154427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+3.43 pts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8189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Deep Dive into Model Strengths and Failure Modes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71500" y="1088668"/>
            <a:ext cx="80010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Structural Symbol Recognition Drives Success Under Stress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71500" y="1608376"/>
            <a:ext cx="3857625" cy="19573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71500" y="1608376"/>
            <a:ext cx="3857625" cy="2857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92969" y="1786970"/>
            <a:ext cx="12340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Success Factors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0094" y="2158445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Geometric Signatures</a:t>
            </a: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"Road work" and "Keep right" remain highly accurate.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50094" y="2655605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Precision Excellence</a:t>
            </a: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Stop signs achieved near-perfect precision across tests.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50094" y="3152766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Contrast Stability</a:t>
            </a: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High-contrast symbols resist minor distortions.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14875" y="1608376"/>
            <a:ext cx="3857625" cy="19573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714875" y="1608376"/>
            <a:ext cx="3857625" cy="28575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50094" y="2158445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0094" y="2655605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50094" y="3152766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36344" y="1786970"/>
            <a:ext cx="1659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Identified Challenges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3469" y="2158445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Structural Distortion</a:t>
            </a: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Severe noise and blur cause misclassification.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93469" y="2655605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Recall Hurdles</a:t>
            </a: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Extreme conditions can cause missed Stop signs.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93469" y="3152766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Edge Degradation</a:t>
            </a: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: Loss of boundary detail remains the primary hurdle.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93469" y="2158445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93469" y="2655605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93469" y="3152766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1500" y="3822939"/>
            <a:ext cx="8001000" cy="496491"/>
          </a:xfrm>
          <a:prstGeom prst="rect">
            <a:avLst/>
          </a:prstGeom>
          <a:noFill/>
          <a:ln/>
        </p:spPr>
        <p:txBody>
          <a:bodyPr wrap="square" lIns="340233" tIns="170053" rIns="340233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365D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"Synthetic training builds tolerance to degraded details, though extreme structural distortion remains a hurdle."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 and Strategic Roadmap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57830"/>
            <a:ext cx="800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D374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Validating Transfer Learning and Synthesis for Deployment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902554"/>
            <a:ext cx="3857625" cy="2064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71500" y="1902554"/>
            <a:ext cx="3857625" cy="28575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92969" y="2081147"/>
            <a:ext cx="11662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0094" y="2452622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Transfer Learning: ResNet50 is highly effective for specialized traffic sign tasks.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50094" y="2971214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Synthetic Advantage: Synthesis provides superior accuracy and robustness gains.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0094" y="3489806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Strategic Priority: Synthetic data generation outperforms standard augmentation.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14875" y="1902554"/>
            <a:ext cx="3857625" cy="20645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714875" y="1902554"/>
            <a:ext cx="3857625" cy="28575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50094" y="2452622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0094" y="2971214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50094" y="3489806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36344" y="2081147"/>
            <a:ext cx="1601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36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Future Development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3469" y="2452622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Scaling: Expand pipeline to the full 43-class GTSRB dataset.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93469" y="2971214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Optimization: Implement MobileNet backbones for edge deployment.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93469" y="3489806"/>
            <a:ext cx="3500438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Fine-tuning: Explore unfreezing deeper layers for specific features.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1500" y="4568428"/>
            <a:ext cx="8001000" cy="2893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71500" y="4568428"/>
            <a:ext cx="8001000" cy="7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893469" y="2452622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93469" y="2971214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93469" y="3489806"/>
            <a:ext cx="428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•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" y="4718447"/>
            <a:ext cx="224135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Traffic Sign Classification Project © 2026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702623" y="4718447"/>
            <a:ext cx="130730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Resources available on</a:t>
            </a:r>
            <a:endParaRPr lang="en-US" sz="8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930" y="4729163"/>
            <a:ext cx="110728" cy="1143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120658" y="4718447"/>
            <a:ext cx="4518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GitHub</a:t>
            </a:r>
            <a:endParaRPr lang="en-US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CB30BD-82E6-ACE0-F9D4-BA54A1798C1B}"/>
              </a:ext>
            </a:extLst>
          </p:cNvPr>
          <p:cNvSpPr txBox="1"/>
          <p:nvPr/>
        </p:nvSpPr>
        <p:spPr>
          <a:xfrm>
            <a:off x="4893469" y="4830860"/>
            <a:ext cx="7328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https://github.com/walunjvishvesh21/CV_FINAL_PROJECT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754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Montserrat Light</vt:lpstr>
      <vt:lpstr>Montserrat SemiBold</vt:lpstr>
      <vt:lpstr>Playfair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vishvesh walunj</cp:lastModifiedBy>
  <cp:revision>1</cp:revision>
  <dcterms:created xsi:type="dcterms:W3CDTF">2026-04-21T22:47:01Z</dcterms:created>
  <dcterms:modified xsi:type="dcterms:W3CDTF">2026-04-21T23:01:34Z</dcterms:modified>
</cp:coreProperties>
</file>